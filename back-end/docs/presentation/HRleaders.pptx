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5" r:id="rId26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Relationships xmlns="http://schemas.openxmlformats.org/package/2006/relationships"><Relationship Id="rId1" Type="http://schemas.openxmlformats.org/officeDocument/2006/relationships/slideMaster" Target="slideMasters/slideMaster1.xml" /><Relationship Id="rId2" Type="http://schemas.openxmlformats.org/officeDocument/2006/relationships/printerSettings" Target="printerSettings/printerSettings1.bin" /><Relationship Id="rId3" Type="http://schemas.openxmlformats.org/officeDocument/2006/relationships/presProps" Target="presProps.xml" /><Relationship Id="rId4" Type="http://schemas.openxmlformats.org/officeDocument/2006/relationships/viewProps" Target="viewProps.xml" /><Relationship Id="rId5" Type="http://schemas.openxmlformats.org/officeDocument/2006/relationships/theme" Target="theme/theme1.xml" /><Relationship Id="rId6" Type="http://schemas.openxmlformats.org/officeDocument/2006/relationships/tableStyles" Target="tableStyles.xml" /><Relationship Id="rId7" Type="http://schemas.openxmlformats.org/officeDocument/2006/relationships/slide" Target="slides/slide1.xml" /><Relationship Id="rId8" Type="http://schemas.openxmlformats.org/officeDocument/2006/relationships/slide" Target="slides/slide2.xml" /><Relationship Id="rId9" Type="http://schemas.openxmlformats.org/officeDocument/2006/relationships/slide" Target="slides/slide3.xml" /><Relationship Id="rId10" Type="http://schemas.openxmlformats.org/officeDocument/2006/relationships/slide" Target="slides/slide4.xml" /><Relationship Id="rId11" Type="http://schemas.openxmlformats.org/officeDocument/2006/relationships/slide" Target="slides/slide5.xml" /><Relationship Id="rId13" Type="http://schemas.openxmlformats.org/officeDocument/2006/relationships/slide" Target="slides/slide7.xml" /><Relationship Id="rId14" Type="http://schemas.openxmlformats.org/officeDocument/2006/relationships/slide" Target="slides/slide8.xml" /><Relationship Id="rId15" Type="http://schemas.openxmlformats.org/officeDocument/2006/relationships/slide" Target="slides/slide9.xml" /><Relationship Id="rId16" Type="http://schemas.openxmlformats.org/officeDocument/2006/relationships/slide" Target="slides/slide10.xml" /><Relationship Id="rId17" Type="http://schemas.openxmlformats.org/officeDocument/2006/relationships/slide" Target="slides/slide11.xml" /><Relationship Id="rId26" Type="http://schemas.openxmlformats.org/officeDocument/2006/relationships/slide" Target="slides/slide20.xml" 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subtitle"/>
          <p:cNvSpPr txBox="1"/>
          <p:nvPr/>
        </p:nvSpPr>
        <p:spPr>
          <a:xfrm>
            <a:off x="381000" y="5334000"/>
            <a:ext cx="7239000" cy="1143000"/>
          </a:xfrm>
          <a:prstGeom prst="rect">
            <a:avLst/>
          </a:prstGeom>
          <a:noFill/>
        </p:spPr>
        <p:txBody>
          <a:bodyPr wrap="none" lIns="0" rIns="0" tIns="0" bIns="0" anchor="b">
            <a:noAutofit/>
          </a:bodyPr>
          <a:lstStyle/>
          <a:p>
            <a:pPr>
              <a:buNone/>
            </a:pPr>
            <a:r>
              <a:rPr lang="ru-RU" sz="2800" b="1">
                <a:solidFill>
                  <a:srgbClr val="FFFFFF"/>
                </a:solidFill>
                <a:latin typeface="Montserrat"/>
              </a:rPr>
              <a:t>HRleaders</a:t>
            </a:r>
          </a:p>
          <a:p>
            <a:pPr>
              <a:buNone/>
            </a:pPr>
            <a:r>
              <a:rPr lang="ru-RU" sz="1600" b="0">
                <a:solidFill>
                  <a:srgbClr val="FFFFFF"/>
                </a:solidFill>
                <a:latin typeface="Montserrat"/>
              </a:rPr>
              <a:t>Отраслевой агрегатор ит-вакансий с подтверждаемым профилем</a:t>
            </a:r>
          </a:p>
          <a:p>
            <a:pPr>
              <a:buNone/>
            </a:pPr>
            <a:r>
              <a:rPr lang="ru-RU" sz="1400" b="0">
                <a:solidFill>
                  <a:srgbClr val="FFFFFF"/>
                </a:solidFill>
                <a:latin typeface="Montserrat"/>
              </a:rPr>
              <a:t>Последний коммит: 11.10.2026</a:t>
            </a:r>
          </a:p>
        </p:txBody>
      </p:sp>
      <p:sp>
        <p:nvSpPr>
          <p:cNvPr id="4" name="text:1"/>
          <p:cNvSpPr txBox="1"/>
          <p:nvPr/>
        </p:nvSpPr>
        <p:spPr>
          <a:xfrm>
            <a:off x="11713604" y="6385725"/>
            <a:ext cx="162052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F2F2F2"/>
                </a:solidFill>
                <a:latin typeface="Montserrat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1"/>
          <p:cNvSpPr txBox="1"/>
          <p:nvPr/>
        </p:nvSpPr>
        <p:spPr>
          <a:xfrm>
            <a:off x="1040875" y="501061"/>
            <a:ext cx="2144112" cy="4346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/>
        </p:txBody>
      </p:sp>
      <p:sp>
        <p:nvSpPr>
          <p:cNvPr id="4" name="text:1"/>
          <p:cNvSpPr txBox="1"/>
          <p:nvPr/>
        </p:nvSpPr>
        <p:spPr>
          <a:xfrm>
            <a:off x="11637023" y="6385725"/>
            <a:ext cx="162052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F2F2F2"/>
                </a:solidFill>
                <a:latin typeface="Montserrat"/>
              </a:rPr>
              <a:t>2</a:t>
            </a:r>
          </a:p>
        </p:txBody>
      </p:sp>
      <p:sp>
        <p:nvSpPr>
          <p:cNvPr id="5" name="text:2"/>
          <p:cNvSpPr txBox="1"/>
          <p:nvPr/>
        </p:nvSpPr>
        <p:spPr>
          <a:xfrm>
            <a:off x="1352309" y="390926"/>
            <a:ext cx="1546440" cy="4491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06"/>
              </a:lnSpc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ОБЗОР</a:t>
            </a:r>
          </a:p>
        </p:txBody>
      </p:sp>
      <p:sp>
        <p:nvSpPr>
          <p:cNvPr id="6" name="text:3"/>
          <p:cNvSpPr txBox="1"/>
          <p:nvPr/>
        </p:nvSpPr>
        <p:spPr>
          <a:xfrm>
            <a:off x="948626" y="1952422"/>
            <a:ext cx="3604209" cy="403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60"/>
              </a:lnSpc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Проект в цифрах</a:t>
            </a:r>
          </a:p>
        </p:txBody>
      </p:sp>
      <p:sp>
        <p:nvSpPr>
          <p:cNvPr id="7" name="text:4"/>
          <p:cNvSpPr txBox="1"/>
          <p:nvPr/>
        </p:nvSpPr>
        <p:spPr>
          <a:xfrm>
            <a:off x="948626" y="2505634"/>
            <a:ext cx="7531734" cy="9473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60"/>
              </a:lnSpc>
              <a:buNone/>
            </a:pPr>
            <a:r>
              <a:rPr sz="1800" b="0">
                <a:solidFill>
                  <a:srgbClr val="FFFFFF"/>
                </a:solidFill>
                <a:latin typeface="Montserrat"/>
              </a:rPr>
              <a:t>668 файлов под контролем Git</a:t>
            </a:r>
          </a:p>
          <a:p>
            <a:pPr>
              <a:lnSpc>
                <a:spcPts val="2160"/>
              </a:lnSpc>
              <a:buNone/>
            </a:pPr>
            <a:r>
              <a:rPr sz="1800" b="0">
                <a:solidFill>
                  <a:srgbClr val="FFFFFF"/>
                </a:solidFill>
                <a:latin typeface="Montserrat"/>
              </a:rPr>
              <a:t>50 коммитов в истории HEAD</a:t>
            </a:r>
          </a:p>
          <a:p>
            <a:pPr>
              <a:lnSpc>
                <a:spcPts val="2160"/>
              </a:lnSpc>
              <a:buNone/>
            </a:pPr>
            <a:r>
              <a:rPr sz="1800" b="0">
                <a:solidFill>
                  <a:srgbClr val="FFFFFF"/>
                </a:solidFill>
                <a:latin typeface="Montserrat"/>
              </a:rPr>
              <a:t>4 участника по всем веткам</a:t>
            </a:r>
          </a:p>
        </p:txBody>
      </p:sp>
      <p:sp>
        <p:nvSpPr>
          <p:cNvPr id="8" name="text:5"/>
          <p:cNvSpPr txBox="1"/>
          <p:nvPr/>
        </p:nvSpPr>
        <p:spPr>
          <a:xfrm>
            <a:off x="948626" y="3602914"/>
            <a:ext cx="7179083" cy="122163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60"/>
              </a:lnSpc>
              <a:buNone/>
            </a:pPr>
            <a:r>
              <a:rPr sz="1800" b="0">
                <a:solidFill>
                  <a:srgbClr val="FFFFFF"/>
                </a:solidFill>
                <a:latin typeface="Montserrat"/>
              </a:rPr>
              <a:t>42 типа файлов по расширениям</a:t>
            </a:r>
          </a:p>
          <a:p>
            <a:pPr>
              <a:lnSpc>
                <a:spcPts val="2160"/>
              </a:lnSpc>
              <a:buNone/>
            </a:pPr>
            <a:r>
              <a:rPr sz="1800" b="0">
                <a:solidFill>
                  <a:srgbClr val="FFFFFF"/>
                </a:solidFill>
                <a:latin typeface="Montserrat"/>
              </a:rPr>
              <a:t>11 веток, локальные и удалённые</a:t>
            </a:r>
          </a:p>
        </p:txBody>
      </p:sp>
      <p:sp>
        <p:nvSpPr>
          <p:cNvPr id="9" name="text:6"/>
          <p:cNvSpPr txBox="1"/>
          <p:nvPr/>
        </p:nvSpPr>
        <p:spPr>
          <a:xfrm>
            <a:off x="948626" y="4974514"/>
            <a:ext cx="890677" cy="39867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60"/>
              </a:lnSpc>
              <a:buNone/>
            </a:pPr>
            <a:r>
              <a:rPr sz="1800" b="0">
                <a:solidFill>
                  <a:srgbClr val="FFFFFF"/>
                </a:solidFill>
                <a:latin typeface="Montserrat"/>
              </a:rPr>
              <a:t/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1"/>
          <p:cNvSpPr txBox="1"/>
          <p:nvPr/>
        </p:nvSpPr>
        <p:spPr>
          <a:xfrm>
            <a:off x="1040875" y="501061"/>
            <a:ext cx="4961988" cy="4346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/>
        </p:txBody>
      </p:sp>
      <p:sp>
        <p:nvSpPr>
          <p:cNvPr id="4" name="text:1"/>
          <p:cNvSpPr txBox="1"/>
          <p:nvPr/>
        </p:nvSpPr>
        <p:spPr>
          <a:xfrm>
            <a:off x="11637023" y="6385725"/>
            <a:ext cx="162052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520977"/>
                </a:solidFill>
                <a:latin typeface="Montserrat"/>
              </a:rPr>
              <a:t>3</a:t>
            </a:r>
          </a:p>
        </p:txBody>
      </p:sp>
      <p:sp>
        <p:nvSpPr>
          <p:cNvPr id="5" name="text:2"/>
          <p:cNvSpPr txBox="1"/>
          <p:nvPr/>
        </p:nvSpPr>
        <p:spPr>
          <a:xfrm>
            <a:off x="1352309" y="1553070"/>
            <a:ext cx="2234972" cy="40325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60"/>
              </a:lnSpc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Проект</a:t>
            </a:r>
          </a:p>
        </p:txBody>
      </p:sp>
      <p:sp>
        <p:nvSpPr>
          <p:cNvPr id="6" name="text:3"/>
          <p:cNvSpPr txBox="1"/>
          <p:nvPr/>
        </p:nvSpPr>
        <p:spPr>
          <a:xfrm>
            <a:off x="1352309" y="2329681"/>
            <a:ext cx="1943316" cy="2868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53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название и дата</a:t>
            </a:r>
          </a:p>
        </p:txBody>
      </p:sp>
      <p:sp>
        <p:nvSpPr>
          <p:cNvPr id="7" name="text:4"/>
          <p:cNvSpPr txBox="1"/>
          <p:nvPr/>
        </p:nvSpPr>
        <p:spPr>
          <a:xfrm>
            <a:off x="1352309" y="2731001"/>
            <a:ext cx="1691469" cy="2868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53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цифры Git</a:t>
            </a:r>
          </a:p>
        </p:txBody>
      </p:sp>
      <p:sp>
        <p:nvSpPr>
          <p:cNvPr id="8" name="text:5"/>
          <p:cNvSpPr txBox="1"/>
          <p:nvPr/>
        </p:nvSpPr>
        <p:spPr>
          <a:xfrm>
            <a:off x="1352309" y="3132321"/>
            <a:ext cx="2241767" cy="48494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34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структура</a:t>
            </a:r>
          </a:p>
          <a:p>
            <a:pPr marL="285750" indent="0">
              <a:lnSpc>
                <a:spcPts val="1553"/>
              </a:lnSpc>
              <a:buNone/>
            </a:pPr>
            <a:r>
              <a:rPr sz="1300" b="0">
                <a:solidFill>
                  <a:srgbClr val="FFFFFF"/>
                </a:solidFill>
                <a:latin typeface="Montserrat"/>
              </a:rPr>
              <a:t>презентации</a:t>
            </a:r>
          </a:p>
        </p:txBody>
      </p:sp>
      <p:sp>
        <p:nvSpPr>
          <p:cNvPr id="9" name="text:6"/>
          <p:cNvSpPr txBox="1"/>
          <p:nvPr/>
        </p:nvSpPr>
        <p:spPr>
          <a:xfrm>
            <a:off x="1304013" y="5686870"/>
            <a:ext cx="1707172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FFD6E3"/>
                </a:solidFill>
                <a:latin typeface="Montserrat"/>
              </a:rPr>
              <a:t>Источник: Git</a:t>
            </a:r>
          </a:p>
        </p:txBody>
      </p:sp>
      <p:sp>
        <p:nvSpPr>
          <p:cNvPr id="10" name="text:7"/>
          <p:cNvSpPr txBox="1"/>
          <p:nvPr/>
        </p:nvSpPr>
        <p:spPr>
          <a:xfrm>
            <a:off x="1302102" y="5180983"/>
            <a:ext cx="2576756" cy="48494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60"/>
              </a:lnSpc>
              <a:buNone/>
            </a:pPr>
            <a:r>
              <a:rPr sz="1300" b="0">
                <a:solidFill>
                  <a:srgbClr val="FFD6E3"/>
                </a:solidFill>
                <a:latin typeface="Montserrat"/>
              </a:rPr>
              <a:t>Слайды 1–4</a:t>
            </a:r>
          </a:p>
        </p:txBody>
      </p:sp>
      <p:sp>
        <p:nvSpPr>
          <p:cNvPr id="11" name="text:8"/>
          <p:cNvSpPr txBox="1"/>
          <p:nvPr/>
        </p:nvSpPr>
        <p:spPr>
          <a:xfrm>
            <a:off x="5074069" y="1553070"/>
            <a:ext cx="2362607" cy="6775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60"/>
              </a:lnSpc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Кодовая база</a:t>
            </a:r>
          </a:p>
        </p:txBody>
      </p:sp>
      <p:sp>
        <p:nvSpPr>
          <p:cNvPr id="12" name="text:9"/>
          <p:cNvSpPr txBox="1"/>
          <p:nvPr/>
        </p:nvSpPr>
        <p:spPr>
          <a:xfrm>
            <a:off x="5105667" y="2329681"/>
            <a:ext cx="2338407" cy="48494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34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состав по</a:t>
            </a:r>
          </a:p>
          <a:p>
            <a:pPr marL="285750" indent="0">
              <a:lnSpc>
                <a:spcPts val="1553"/>
              </a:lnSpc>
              <a:buNone/>
            </a:pPr>
            <a:r>
              <a:rPr sz="1300" b="0">
                <a:solidFill>
                  <a:srgbClr val="FFFFFF"/>
                </a:solidFill>
                <a:latin typeface="Montserrat"/>
              </a:rPr>
              <a:t>расширениям</a:t>
            </a:r>
          </a:p>
        </p:txBody>
      </p:sp>
      <p:sp>
        <p:nvSpPr>
          <p:cNvPr id="13" name="text:10"/>
          <p:cNvSpPr txBox="1"/>
          <p:nvPr/>
        </p:nvSpPr>
        <p:spPr>
          <a:xfrm>
            <a:off x="5105667" y="2929121"/>
            <a:ext cx="2274152" cy="48494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34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число коммитов</a:t>
            </a:r>
          </a:p>
        </p:txBody>
      </p:sp>
      <p:sp>
        <p:nvSpPr>
          <p:cNvPr id="14" name="text:11"/>
          <p:cNvSpPr txBox="1"/>
          <p:nvPr/>
        </p:nvSpPr>
        <p:spPr>
          <a:xfrm>
            <a:off x="5105667" y="3528561"/>
            <a:ext cx="2405601" cy="48494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34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число веток</a:t>
            </a:r>
          </a:p>
        </p:txBody>
      </p:sp>
      <p:sp>
        <p:nvSpPr>
          <p:cNvPr id="15" name="text:12"/>
          <p:cNvSpPr txBox="1"/>
          <p:nvPr/>
        </p:nvSpPr>
        <p:spPr>
          <a:xfrm>
            <a:off x="5105667" y="4128001"/>
            <a:ext cx="1651433" cy="28682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53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дата коммита</a:t>
            </a:r>
          </a:p>
        </p:txBody>
      </p:sp>
      <p:sp>
        <p:nvSpPr>
          <p:cNvPr id="16" name="text:13"/>
          <p:cNvSpPr txBox="1"/>
          <p:nvPr/>
        </p:nvSpPr>
        <p:spPr>
          <a:xfrm>
            <a:off x="5105667" y="4529321"/>
            <a:ext cx="2429728" cy="48494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34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самые изменяемые</a:t>
            </a:r>
          </a:p>
          <a:p>
            <a:pPr marL="285750" indent="0">
              <a:lnSpc>
                <a:spcPts val="1553"/>
              </a:lnSpc>
              <a:buNone/>
            </a:pPr>
            <a:r>
              <a:rPr sz="1300" b="0">
                <a:solidFill>
                  <a:srgbClr val="FFFFFF"/>
                </a:solidFill>
                <a:latin typeface="Montserrat"/>
              </a:rPr>
              <a:t>файлы</a:t>
            </a:r>
          </a:p>
        </p:txBody>
      </p:sp>
      <p:sp>
        <p:nvSpPr>
          <p:cNvPr id="17" name="text:14"/>
          <p:cNvSpPr txBox="1"/>
          <p:nvPr/>
        </p:nvSpPr>
        <p:spPr>
          <a:xfrm>
            <a:off x="5025786" y="5686870"/>
            <a:ext cx="1707170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FFD6E3"/>
                </a:solidFill>
                <a:latin typeface="Montserrat"/>
              </a:rPr>
              <a:t>Источник: Git</a:t>
            </a:r>
          </a:p>
        </p:txBody>
      </p:sp>
      <p:sp>
        <p:nvSpPr>
          <p:cNvPr id="18" name="text:15"/>
          <p:cNvSpPr txBox="1"/>
          <p:nvPr/>
        </p:nvSpPr>
        <p:spPr>
          <a:xfrm>
            <a:off x="5048018" y="5160841"/>
            <a:ext cx="2576757" cy="48494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60"/>
              </a:lnSpc>
              <a:buNone/>
            </a:pPr>
            <a:r>
              <a:rPr sz="1300" b="0">
                <a:solidFill>
                  <a:srgbClr val="FFD6E3"/>
                </a:solidFill>
                <a:latin typeface="Montserrat"/>
              </a:rPr>
              <a:t>Слайды 5–6</a:t>
            </a:r>
          </a:p>
        </p:txBody>
      </p:sp>
      <p:sp>
        <p:nvSpPr>
          <p:cNvPr id="19" name="text:16"/>
          <p:cNvSpPr txBox="1"/>
          <p:nvPr/>
        </p:nvSpPr>
        <p:spPr>
          <a:xfrm>
            <a:off x="8768741" y="1553070"/>
            <a:ext cx="1699030" cy="67757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60"/>
              </a:lnSpc>
              <a:buNone/>
            </a:pPr>
            <a:r>
              <a:rPr sz="1800" b="1">
                <a:solidFill>
                  <a:srgbClr val="FFFFFF"/>
                </a:solidFill>
                <a:latin typeface="Montserrat"/>
              </a:rPr>
              <a:t>Шаблон ФСП</a:t>
            </a:r>
          </a:p>
        </p:txBody>
      </p:sp>
      <p:sp>
        <p:nvSpPr>
          <p:cNvPr id="20" name="text:17"/>
          <p:cNvSpPr txBox="1"/>
          <p:nvPr/>
        </p:nvSpPr>
        <p:spPr>
          <a:xfrm>
            <a:off x="8768741" y="2329681"/>
            <a:ext cx="2311618" cy="107930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34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о команде</a:t>
            </a:r>
          </a:p>
          <a:p>
            <a:pPr marL="285750" indent="0">
              <a:lnSpc>
                <a:spcPts val="1559"/>
              </a:lnSpc>
              <a:buNone/>
            </a:pPr>
            <a:r>
              <a:rPr sz="1300" b="0">
                <a:solidFill>
                  <a:srgbClr val="FFFFFF"/>
                </a:solidFill>
                <a:latin typeface="Montserrat"/>
              </a:rPr>
              <a:t>и решении</a:t>
            </a:r>
          </a:p>
        </p:txBody>
      </p:sp>
      <p:sp>
        <p:nvSpPr>
          <p:cNvPr id="21" name="text:18"/>
          <p:cNvSpPr txBox="1"/>
          <p:nvPr/>
        </p:nvSpPr>
        <p:spPr>
          <a:xfrm>
            <a:off x="8768741" y="3518401"/>
            <a:ext cx="2559266" cy="88118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285750" indent="-285750">
              <a:lnSpc>
                <a:spcPts val="1534"/>
              </a:lnSpc>
              <a:buClr>
                <a:srgbClr val="FD0C50"/>
              </a:buClr>
              <a:buChar char="•"/>
            </a:pPr>
            <a:r>
              <a:rPr sz="1300" b="0">
                <a:solidFill>
                  <a:srgbClr val="FFFFFF"/>
                </a:solidFill>
                <a:latin typeface="Montserrat"/>
              </a:rPr>
              <a:t>слайды шаблона</a:t>
            </a:r>
          </a:p>
          <a:p>
            <a:pPr marL="285750" indent="0">
              <a:lnSpc>
                <a:spcPts val="1560"/>
              </a:lnSpc>
              <a:buNone/>
            </a:pPr>
            <a:r>
              <a:rPr sz="1300" b="0">
                <a:solidFill>
                  <a:srgbClr val="FFFFFF"/>
                </a:solidFill>
                <a:latin typeface="Montserrat"/>
              </a:rPr>
              <a:t>без изменений</a:t>
            </a:r>
          </a:p>
        </p:txBody>
      </p:sp>
      <p:sp>
        <p:nvSpPr>
          <p:cNvPr id="22" name="text:19"/>
          <p:cNvSpPr txBox="1"/>
          <p:nvPr/>
        </p:nvSpPr>
        <p:spPr>
          <a:xfrm>
            <a:off x="8742690" y="5160841"/>
            <a:ext cx="2576756" cy="484947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560"/>
              </a:lnSpc>
              <a:buNone/>
            </a:pPr>
            <a:r>
              <a:rPr sz="1300" b="0">
                <a:solidFill>
                  <a:srgbClr val="FED7E4"/>
                </a:solidFill>
                <a:latin typeface="Montserrat"/>
              </a:rPr>
              <a:t>Слайды 7–11</a:t>
            </a:r>
          </a:p>
        </p:txBody>
      </p:sp>
      <p:sp>
        <p:nvSpPr>
          <p:cNvPr id="23" name="text:20"/>
          <p:cNvSpPr txBox="1"/>
          <p:nvPr/>
        </p:nvSpPr>
        <p:spPr>
          <a:xfrm>
            <a:off x="1352309" y="116606"/>
            <a:ext cx="2269489" cy="72349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159"/>
              </a:lnSpc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СОДЕРЖАНИЕ </a:t>
            </a:r>
          </a:p>
          <a:p>
            <a:pPr>
              <a:lnSpc>
                <a:spcPts val="2406"/>
              </a:lnSpc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ПРЕЗЕНТАЦИИ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1"/>
          <p:cNvSpPr txBox="1"/>
          <p:nvPr/>
        </p:nvSpPr>
        <p:spPr>
          <a:xfrm>
            <a:off x="1040875" y="501061"/>
            <a:ext cx="7176360" cy="4346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/>
        </p:txBody>
      </p:sp>
      <p:sp>
        <p:nvSpPr>
          <p:cNvPr id="4" name="text:1"/>
          <p:cNvSpPr txBox="1"/>
          <p:nvPr/>
        </p:nvSpPr>
        <p:spPr>
          <a:xfrm>
            <a:off x="11637023" y="6385725"/>
            <a:ext cx="162052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520977"/>
                </a:solidFill>
                <a:latin typeface="Montserrat"/>
              </a:rPr>
              <a:t>4</a:t>
            </a:r>
          </a:p>
        </p:txBody>
      </p:sp>
      <p:sp>
        <p:nvSpPr>
          <p:cNvPr id="5" name="text:2"/>
          <p:cNvSpPr txBox="1"/>
          <p:nvPr/>
        </p:nvSpPr>
        <p:spPr>
          <a:xfrm>
            <a:off x="1619999" y="2621044"/>
            <a:ext cx="1200328" cy="791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Подробное </a:t>
            </a:r>
          </a:p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описание </a:t>
            </a:r>
          </a:p>
          <a:p>
            <a:pPr>
              <a:lnSpc>
                <a:spcPts val="1913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решения</a:t>
            </a:r>
          </a:p>
        </p:txBody>
      </p:sp>
      <p:sp>
        <p:nvSpPr>
          <p:cNvPr id="6" name="text:3"/>
          <p:cNvSpPr txBox="1"/>
          <p:nvPr/>
        </p:nvSpPr>
        <p:spPr>
          <a:xfrm>
            <a:off x="4202316" y="2621044"/>
            <a:ext cx="1615398" cy="791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Маркетингова</a:t>
            </a:r>
          </a:p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я часть </a:t>
            </a:r>
          </a:p>
          <a:p>
            <a:pPr>
              <a:lnSpc>
                <a:spcPts val="1913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решения</a:t>
            </a:r>
          </a:p>
        </p:txBody>
      </p:sp>
      <p:sp>
        <p:nvSpPr>
          <p:cNvPr id="7" name="text:4"/>
          <p:cNvSpPr txBox="1"/>
          <p:nvPr/>
        </p:nvSpPr>
        <p:spPr>
          <a:xfrm>
            <a:off x="6784632" y="2621044"/>
            <a:ext cx="1710868" cy="79142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Бизнесовая </a:t>
            </a:r>
          </a:p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составляющая </a:t>
            </a:r>
          </a:p>
          <a:p>
            <a:pPr>
              <a:lnSpc>
                <a:spcPts val="1913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решения</a:t>
            </a:r>
          </a:p>
        </p:txBody>
      </p:sp>
      <p:sp>
        <p:nvSpPr>
          <p:cNvPr id="8" name="text:5"/>
          <p:cNvSpPr txBox="1"/>
          <p:nvPr/>
        </p:nvSpPr>
        <p:spPr>
          <a:xfrm>
            <a:off x="1619999" y="4728292"/>
            <a:ext cx="1428293" cy="7914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Техническая </a:t>
            </a:r>
          </a:p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проработка </a:t>
            </a:r>
          </a:p>
          <a:p>
            <a:pPr>
              <a:lnSpc>
                <a:spcPts val="1913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решения</a:t>
            </a:r>
          </a:p>
        </p:txBody>
      </p:sp>
      <p:sp>
        <p:nvSpPr>
          <p:cNvPr id="9" name="text:6"/>
          <p:cNvSpPr txBox="1"/>
          <p:nvPr/>
        </p:nvSpPr>
        <p:spPr>
          <a:xfrm>
            <a:off x="4169524" y="4728292"/>
            <a:ext cx="1641653" cy="57234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Уникальность </a:t>
            </a:r>
          </a:p>
          <a:p>
            <a:pPr>
              <a:lnSpc>
                <a:spcPts val="1913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решения</a:t>
            </a:r>
          </a:p>
        </p:txBody>
      </p:sp>
      <p:sp>
        <p:nvSpPr>
          <p:cNvPr id="10" name="text:7"/>
          <p:cNvSpPr txBox="1"/>
          <p:nvPr/>
        </p:nvSpPr>
        <p:spPr>
          <a:xfrm>
            <a:off x="6750672" y="4728292"/>
            <a:ext cx="1552754" cy="79142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Планы </a:t>
            </a:r>
          </a:p>
          <a:p>
            <a:pPr>
              <a:lnSpc>
                <a:spcPts val="1725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по развитию </a:t>
            </a:r>
          </a:p>
          <a:p>
            <a:pPr>
              <a:lnSpc>
                <a:spcPts val="1913"/>
              </a:lnSpc>
              <a:buNone/>
            </a:pPr>
            <a:r>
              <a:rPr sz="1600" b="0">
                <a:solidFill>
                  <a:srgbClr val="000000"/>
                </a:solidFill>
                <a:latin typeface="Montserrat"/>
              </a:rPr>
              <a:t>решения</a:t>
            </a:r>
          </a:p>
        </p:txBody>
      </p:sp>
      <p:sp>
        <p:nvSpPr>
          <p:cNvPr id="11" name="text:8"/>
          <p:cNvSpPr txBox="1"/>
          <p:nvPr/>
        </p:nvSpPr>
        <p:spPr>
          <a:xfrm>
            <a:off x="1633855" y="1699095"/>
            <a:ext cx="5892724" cy="8065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320"/>
              </a:lnSpc>
              <a:buNone/>
            </a:pPr>
            <a:r>
              <a:rPr sz="3600" b="1">
                <a:solidFill>
                  <a:srgbClr val="FF0053"/>
                </a:solidFill>
                <a:latin typeface="Montserrat"/>
              </a:rPr>
              <a:t>01</a:t>
            </a:r>
            <a:r>
              <a:rPr sz="3600" b="1">
                <a:solidFill>
                  <a:srgbClr val="FF0053"/>
                </a:solidFill>
                <a:latin typeface="Montserrat"/>
              </a:rPr>
              <a:t> 02</a:t>
            </a:r>
            <a:r>
              <a:rPr sz="3600" b="1">
                <a:solidFill>
                  <a:srgbClr val="FF0053"/>
                </a:solidFill>
                <a:latin typeface="Montserrat"/>
              </a:rPr>
              <a:t> 03</a:t>
            </a:r>
          </a:p>
        </p:txBody>
      </p:sp>
      <p:sp>
        <p:nvSpPr>
          <p:cNvPr id="12" name="text:9"/>
          <p:cNvSpPr txBox="1"/>
          <p:nvPr/>
        </p:nvSpPr>
        <p:spPr>
          <a:xfrm>
            <a:off x="1633855" y="3804996"/>
            <a:ext cx="5892724" cy="80650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4320"/>
              </a:lnSpc>
              <a:buNone/>
            </a:pPr>
            <a:r>
              <a:rPr sz="3600" b="1">
                <a:solidFill>
                  <a:srgbClr val="FF0053"/>
                </a:solidFill>
                <a:latin typeface="Montserrat"/>
              </a:rPr>
              <a:t>04</a:t>
            </a:r>
            <a:r>
              <a:rPr sz="3600" b="1">
                <a:solidFill>
                  <a:srgbClr val="FF0053"/>
                </a:solidFill>
                <a:latin typeface="Montserrat"/>
              </a:rPr>
              <a:t> 05</a:t>
            </a:r>
            <a:r>
              <a:rPr sz="3600" b="1">
                <a:solidFill>
                  <a:srgbClr val="FF0053"/>
                </a:solidFill>
                <a:latin typeface="Montserrat"/>
              </a:rPr>
              <a:t> 06</a:t>
            </a:r>
          </a:p>
        </p:txBody>
      </p:sp>
      <p:sp>
        <p:nvSpPr>
          <p:cNvPr id="13" name="text:10"/>
          <p:cNvSpPr txBox="1"/>
          <p:nvPr/>
        </p:nvSpPr>
        <p:spPr>
          <a:xfrm>
            <a:off x="1352309" y="1153750"/>
            <a:ext cx="2932831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000000"/>
                </a:solidFill>
                <a:latin typeface="Montserrat"/>
              </a:rPr>
              <a:t>Для продуктовых решений</a:t>
            </a:r>
          </a:p>
        </p:txBody>
      </p:sp>
      <p:sp>
        <p:nvSpPr>
          <p:cNvPr id="14" name="text:11"/>
          <p:cNvSpPr txBox="1"/>
          <p:nvPr/>
        </p:nvSpPr>
        <p:spPr>
          <a:xfrm>
            <a:off x="1352309" y="390926"/>
            <a:ext cx="6883733" cy="4491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06"/>
              </a:lnSpc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РЕКОМЕНДУЕМАЯ СТРУКТУРА ПРЕЗЕНТАЦИИ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1"/>
          <p:cNvSpPr txBox="1"/>
          <p:nvPr/>
        </p:nvSpPr>
        <p:spPr>
          <a:xfrm>
            <a:off x="1010011" y="3765695"/>
            <a:ext cx="1270420" cy="5259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1">
                <a:solidFill>
                  <a:srgbClr val="FFFFFF"/>
                </a:solidFill>
                <a:latin typeface="Montserrat"/>
              </a:rPr>
              <a:t>.py · 117</a:t>
            </a:r>
          </a:p>
        </p:txBody>
      </p:sp>
      <p:sp>
        <p:nvSpPr>
          <p:cNvPr id="4" name="region:2"/>
          <p:cNvSpPr txBox="1"/>
          <p:nvPr/>
        </p:nvSpPr>
        <p:spPr>
          <a:xfrm>
            <a:off x="2724524" y="3765695"/>
            <a:ext cx="1290029" cy="5259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1">
                <a:solidFill>
                  <a:srgbClr val="310F53"/>
                </a:solidFill>
                <a:latin typeface="Montserrat"/>
              </a:rPr>
              <a:t>.dart · 103</a:t>
            </a:r>
          </a:p>
        </p:txBody>
      </p:sp>
      <p:sp>
        <p:nvSpPr>
          <p:cNvPr id="5" name="region:3"/>
          <p:cNvSpPr txBox="1"/>
          <p:nvPr/>
        </p:nvSpPr>
        <p:spPr>
          <a:xfrm>
            <a:off x="4458646" y="3765695"/>
            <a:ext cx="1290029" cy="5259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1">
                <a:solidFill>
                  <a:srgbClr val="FFFFFF"/>
                </a:solidFill>
                <a:latin typeface="Montserrat"/>
              </a:rPr>
              <a:t>.html · 77</a:t>
            </a:r>
          </a:p>
        </p:txBody>
      </p:sp>
      <p:sp>
        <p:nvSpPr>
          <p:cNvPr id="6" name="region:4"/>
          <p:cNvSpPr txBox="1"/>
          <p:nvPr/>
        </p:nvSpPr>
        <p:spPr>
          <a:xfrm>
            <a:off x="6192767" y="3765695"/>
            <a:ext cx="1290144" cy="5259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1">
                <a:solidFill>
                  <a:srgbClr val="FFFFFF"/>
                </a:solidFill>
                <a:latin typeface="Montserrat"/>
              </a:rPr>
              <a:t>.png · 77</a:t>
            </a:r>
          </a:p>
        </p:txBody>
      </p:sp>
      <p:sp>
        <p:nvSpPr>
          <p:cNvPr id="7" name="region:5"/>
          <p:cNvSpPr txBox="1"/>
          <p:nvPr/>
        </p:nvSpPr>
        <p:spPr>
          <a:xfrm>
            <a:off x="7926253" y="3765695"/>
            <a:ext cx="1290969" cy="525959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1">
                <a:solidFill>
                  <a:srgbClr val="FFFFFF"/>
                </a:solidFill>
                <a:latin typeface="Montserrat"/>
              </a:rPr>
              <a:t>.webp · 60</a:t>
            </a:r>
          </a:p>
        </p:txBody>
      </p:sp>
      <p:sp>
        <p:nvSpPr>
          <p:cNvPr id="8" name="region:6"/>
          <p:cNvSpPr txBox="1"/>
          <p:nvPr/>
        </p:nvSpPr>
        <p:spPr>
          <a:xfrm>
            <a:off x="1010019" y="5263833"/>
            <a:ext cx="1270405" cy="5259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1">
                <a:solidFill>
                  <a:srgbClr val="310F53"/>
                </a:solidFill>
                <a:latin typeface="Montserrat"/>
              </a:rPr>
              <a:t>36 типов</a:t>
            </a:r>
          </a:p>
        </p:txBody>
      </p:sp>
      <p:sp>
        <p:nvSpPr>
          <p:cNvPr id="9" name="region:7"/>
          <p:cNvSpPr txBox="1"/>
          <p:nvPr/>
        </p:nvSpPr>
        <p:spPr>
          <a:xfrm>
            <a:off x="2744140" y="5263833"/>
            <a:ext cx="1270405" cy="525995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1">
                <a:solidFill>
                  <a:srgbClr val="FFFFFF"/>
                </a:solidFill>
                <a:latin typeface="Montserrat"/>
              </a:rPr>
              <a:t>180 файлов</a:t>
            </a:r>
          </a:p>
        </p:txBody>
      </p:sp>
      <p:sp>
        <p:nvSpPr>
          <p:cNvPr id="10" name="region:8"/>
          <p:cNvSpPr txBox="1"/>
          <p:nvPr/>
        </p:nvSpPr>
        <p:spPr>
          <a:xfrm>
            <a:off x="1040875" y="501061"/>
            <a:ext cx="2764380" cy="4346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/>
        </p:txBody>
      </p:sp>
      <p:sp>
        <p:nvSpPr>
          <p:cNvPr id="11" name="text:1"/>
          <p:cNvSpPr txBox="1"/>
          <p:nvPr/>
        </p:nvSpPr>
        <p:spPr>
          <a:xfrm>
            <a:off x="11637023" y="6385725"/>
            <a:ext cx="162052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520977"/>
                </a:solidFill>
                <a:latin typeface="Montserrat"/>
              </a:rPr>
              <a:t>5</a:t>
            </a:r>
          </a:p>
        </p:txBody>
      </p:sp>
      <p:sp>
        <p:nvSpPr>
          <p:cNvPr id="12" name="text:2"/>
          <p:cNvSpPr txBox="1"/>
          <p:nvPr/>
        </p:nvSpPr>
        <p:spPr>
          <a:xfrm>
            <a:off x="867829" y="2128195"/>
            <a:ext cx="1002732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ФАЙЛЫ:</a:t>
            </a:r>
          </a:p>
        </p:txBody>
      </p:sp>
      <p:sp>
        <p:nvSpPr>
          <p:cNvPr id="13" name="text:3"/>
          <p:cNvSpPr txBox="1"/>
          <p:nvPr/>
        </p:nvSpPr>
        <p:spPr>
          <a:xfrm>
            <a:off x="867829" y="2856845"/>
            <a:ext cx="903671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ТИПЫ:</a:t>
            </a:r>
          </a:p>
        </p:txBody>
      </p:sp>
      <p:sp>
        <p:nvSpPr>
          <p:cNvPr id="14" name="text:4"/>
          <p:cNvSpPr txBox="1"/>
          <p:nvPr/>
        </p:nvSpPr>
        <p:spPr>
          <a:xfrm>
            <a:off x="2055838" y="2131847"/>
            <a:ext cx="5335524" cy="332232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00"/>
              </a:lnSpc>
              <a:buNone/>
            </a:pPr>
            <a:r>
              <a:rPr sz="1500" b="0">
                <a:solidFill>
                  <a:srgbClr val="000000"/>
                </a:solidFill>
                <a:latin typeface="Montserrat"/>
              </a:rPr>
              <a:t>668 файлов под контролем Git, 42 типа расширений</a:t>
            </a:r>
          </a:p>
        </p:txBody>
      </p:sp>
      <p:sp>
        <p:nvSpPr>
          <p:cNvPr id="15" name="text:5"/>
          <p:cNvSpPr txBox="1"/>
          <p:nvPr/>
        </p:nvSpPr>
        <p:spPr>
          <a:xfrm>
            <a:off x="886358" y="3237021"/>
            <a:ext cx="1071321" cy="3111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86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топ-6</a:t>
            </a:r>
          </a:p>
        </p:txBody>
      </p:sp>
      <p:sp>
        <p:nvSpPr>
          <p:cNvPr id="16" name="text:6"/>
          <p:cNvSpPr txBox="1"/>
          <p:nvPr/>
        </p:nvSpPr>
        <p:spPr>
          <a:xfrm>
            <a:off x="886358" y="4731976"/>
            <a:ext cx="7042641" cy="60173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05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остальные: источник git ls-files</a:t>
            </a:r>
          </a:p>
        </p:txBody>
      </p:sp>
      <p:sp>
        <p:nvSpPr>
          <p:cNvPr id="17" name="text:7"/>
          <p:cNvSpPr txBox="1"/>
          <p:nvPr/>
        </p:nvSpPr>
        <p:spPr>
          <a:xfrm>
            <a:off x="1072375" y="3874567"/>
            <a:ext cx="8133677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FFFFFF"/>
                </a:solidFill>
                <a:latin typeface="Montserrat"/>
              </a:rPr>
              <a:t/>
            </a:r>
          </a:p>
        </p:txBody>
      </p:sp>
      <p:sp>
        <p:nvSpPr>
          <p:cNvPr id="18" name="text:8"/>
          <p:cNvSpPr txBox="1"/>
          <p:nvPr/>
        </p:nvSpPr>
        <p:spPr>
          <a:xfrm>
            <a:off x="1114285" y="5424868"/>
            <a:ext cx="2912174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1C1D22"/>
                </a:solidFill>
                <a:latin typeface="Montserrat"/>
              </a:rPr>
              <a:t/>
            </a:r>
          </a:p>
        </p:txBody>
      </p:sp>
      <p:sp>
        <p:nvSpPr>
          <p:cNvPr id="19" name="text:9"/>
          <p:cNvSpPr txBox="1"/>
          <p:nvPr/>
        </p:nvSpPr>
        <p:spPr>
          <a:xfrm>
            <a:off x="9671723" y="3874567"/>
            <a:ext cx="1238377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FFFFFF"/>
                </a:solidFill>
                <a:latin typeface="Montserrat"/>
              </a:rPr>
              <a:t>.ts · 54</a:t>
            </a:r>
          </a:p>
        </p:txBody>
      </p:sp>
      <p:sp>
        <p:nvSpPr>
          <p:cNvPr id="20" name="text:10"/>
          <p:cNvSpPr txBox="1"/>
          <p:nvPr/>
        </p:nvSpPr>
        <p:spPr>
          <a:xfrm>
            <a:off x="1352309" y="390926"/>
            <a:ext cx="2197316" cy="4491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06"/>
              </a:lnSpc>
              <a:buNone/>
            </a:pPr>
            <a:r>
              <a:rPr sz="2000" b="1">
                <a:solidFill>
                  <a:srgbClr val="FFFFFF"/>
                </a:solidFill>
                <a:latin typeface="Montserrat"/>
              </a:rPr>
              <a:t>СОСТАВ КОДА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1"/>
          <p:cNvSpPr txBox="1"/>
          <p:nvPr/>
        </p:nvSpPr>
        <p:spPr>
          <a:xfrm>
            <a:off x="-123673" y="-140957"/>
            <a:ext cx="5779084" cy="1939544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/>
        </p:txBody>
      </p:sp>
      <p:sp>
        <p:nvSpPr>
          <p:cNvPr id="4" name="text:1"/>
          <p:cNvSpPr txBox="1"/>
          <p:nvPr/>
        </p:nvSpPr>
        <p:spPr>
          <a:xfrm>
            <a:off x="360045" y="5549240"/>
            <a:ext cx="7494702" cy="836828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00"/>
              </a:lnSpc>
              <a:buNone/>
            </a:pPr>
            <a:r>
              <a:rPr sz="1800" b="0">
                <a:solidFill>
                  <a:srgbClr val="F2F2F2"/>
                </a:solidFill>
                <a:latin typeface="Montserrat"/>
              </a:rPr>
              <a:t>Цифровая платформа-агрегатор ИТ-вакансий </a:t>
            </a:r>
          </a:p>
          <a:p>
            <a:pPr>
              <a:lnSpc>
                <a:spcPts val="1800"/>
              </a:lnSpc>
              <a:buNone/>
            </a:pPr>
            <a:r>
              <a:rPr sz="1800" b="0">
                <a:solidFill>
                  <a:srgbClr val="F2F2F2"/>
                </a:solidFill>
                <a:latin typeface="Montserrat"/>
              </a:rPr>
              <a:t>с верифицированным профилем достижений </a:t>
            </a:r>
          </a:p>
          <a:p>
            <a:pPr>
              <a:lnSpc>
                <a:spcPts val="2160"/>
              </a:lnSpc>
              <a:buNone/>
            </a:pPr>
            <a:r>
              <a:rPr sz="1800" b="0">
                <a:solidFill>
                  <a:srgbClr val="F2F2F2"/>
                </a:solidFill>
                <a:latin typeface="Montserrat"/>
              </a:rPr>
              <a:t>участника Федерации спортивного программирования (ФСП)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:1"/>
          <p:cNvSpPr txBox="1"/>
          <p:nvPr/>
        </p:nvSpPr>
        <p:spPr>
          <a:xfrm>
            <a:off x="6911340" y="2290540"/>
            <a:ext cx="3081086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Краткое описание решения:</a:t>
            </a:r>
          </a:p>
        </p:txBody>
      </p:sp>
      <p:sp>
        <p:nvSpPr>
          <p:cNvPr id="4" name="text:2"/>
          <p:cNvSpPr txBox="1"/>
          <p:nvPr/>
        </p:nvSpPr>
        <p:spPr>
          <a:xfrm>
            <a:off x="6928041" y="4872908"/>
            <a:ext cx="4239969" cy="524563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80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Что делает ваше решение уникальным или </a:t>
            </a:r>
          </a:p>
          <a:p>
            <a:pPr>
              <a:lnSpc>
                <a:spcPts val="1686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инновационным?</a:t>
            </a:r>
          </a:p>
        </p:txBody>
      </p:sp>
      <p:sp>
        <p:nvSpPr>
          <p:cNvPr id="5" name="text:3"/>
          <p:cNvSpPr txBox="1"/>
          <p:nvPr/>
        </p:nvSpPr>
        <p:spPr>
          <a:xfrm>
            <a:off x="426403" y="3911848"/>
            <a:ext cx="3552205" cy="159428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144780" indent="-144780">
              <a:lnSpc>
                <a:spcPts val="2014"/>
              </a:lnSpc>
              <a:buClr>
                <a:srgbClr val="FF0053"/>
              </a:buClr>
              <a:buChar char="•"/>
            </a:pPr>
            <a:r>
              <a:rPr sz="1400" b="1">
                <a:solidFill>
                  <a:srgbClr val="000000"/>
                </a:solidFill>
                <a:latin typeface="Montserrat"/>
              </a:rPr>
              <a:t>Капитан: </a:t>
            </a:r>
            <a:r>
              <a:rPr sz="1400" b="0">
                <a:solidFill>
                  <a:srgbClr val="000000"/>
                </a:solidFill>
                <a:latin typeface="Montserrat"/>
              </a:rPr>
              <a:t>ФИО, специальность</a:t>
            </a:r>
          </a:p>
          <a:p>
            <a:pPr marL="144780" indent="-144780">
              <a:lnSpc>
                <a:spcPts val="2014"/>
              </a:lnSpc>
              <a:buClr>
                <a:srgbClr val="FF0053"/>
              </a:buClr>
              <a:buChar char="•"/>
            </a:pPr>
            <a:r>
              <a:rPr sz="1400" b="1">
                <a:solidFill>
                  <a:srgbClr val="000000"/>
                </a:solidFill>
                <a:latin typeface="Montserrat"/>
              </a:rPr>
              <a:t>Кол-во участников: </a:t>
            </a:r>
            <a:r>
              <a:rPr sz="1400" b="0">
                <a:solidFill>
                  <a:srgbClr val="000000"/>
                </a:solidFill>
                <a:latin typeface="Montserrat"/>
              </a:rPr>
              <a:t>__ человек</a:t>
            </a:r>
          </a:p>
          <a:p>
            <a:pPr marL="144780" indent="-144780">
              <a:lnSpc>
                <a:spcPts val="2029"/>
              </a:lnSpc>
              <a:buClr>
                <a:srgbClr val="FF0053"/>
              </a:buClr>
              <a:buChar char="•"/>
            </a:pPr>
            <a:r>
              <a:rPr sz="1400" b="1">
                <a:solidFill>
                  <a:srgbClr val="000000"/>
                </a:solidFill>
                <a:latin typeface="Montserrat"/>
              </a:rPr>
              <a:t>Краткое описание: </a:t>
            </a:r>
          </a:p>
          <a:p>
            <a:pPr marL="86113" indent="-86113">
              <a:lnSpc>
                <a:spcPts val="2014"/>
              </a:lnSpc>
              <a:buClr>
                <a:srgbClr val="FF0053"/>
              </a:buClr>
              <a:buChar char="-"/>
            </a:pPr>
            <a:r>
              <a:rPr sz="1400" b="0">
                <a:solidFill>
                  <a:srgbClr val="000000"/>
                </a:solidFill>
                <a:latin typeface="Montserrat"/>
              </a:rPr>
              <a:t> как образовалась команда? </a:t>
            </a:r>
          </a:p>
          <a:p>
            <a:pPr marL="86113" indent="-86113">
              <a:lnSpc>
                <a:spcPts val="2000"/>
              </a:lnSpc>
              <a:buClr>
                <a:srgbClr val="FF0053"/>
              </a:buClr>
              <a:buChar char="-"/>
            </a:pPr>
            <a:r>
              <a:rPr sz="1400" b="0">
                <a:solidFill>
                  <a:srgbClr val="000000"/>
                </a:solidFill>
                <a:latin typeface="Montserrat"/>
              </a:rPr>
              <a:t> место работы/учебы участников?</a:t>
            </a:r>
          </a:p>
          <a:p>
            <a:pPr marL="144780" indent="-144780">
              <a:lnSpc>
                <a:spcPts val="1686"/>
              </a:lnSpc>
              <a:buClr>
                <a:srgbClr val="FF0053"/>
              </a:buClr>
              <a:buChar char="•"/>
            </a:pPr>
            <a:r>
              <a:rPr sz="1400" b="1">
                <a:solidFill>
                  <a:srgbClr val="000000"/>
                </a:solidFill>
                <a:latin typeface="Montserrat"/>
              </a:rPr>
              <a:t>Город и регион:</a:t>
            </a:r>
          </a:p>
        </p:txBody>
      </p:sp>
      <p:sp>
        <p:nvSpPr>
          <p:cNvPr id="6" name="text:4"/>
          <p:cNvSpPr txBox="1"/>
          <p:nvPr/>
        </p:nvSpPr>
        <p:spPr>
          <a:xfrm>
            <a:off x="426403" y="3472199"/>
            <a:ext cx="1177444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О команде</a:t>
            </a:r>
          </a:p>
        </p:txBody>
      </p:sp>
      <p:sp>
        <p:nvSpPr>
          <p:cNvPr id="7" name="text:5"/>
          <p:cNvSpPr txBox="1"/>
          <p:nvPr/>
        </p:nvSpPr>
        <p:spPr>
          <a:xfrm>
            <a:off x="6911340" y="4529156"/>
            <a:ext cx="2570548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Уникальность решения:</a:t>
            </a:r>
          </a:p>
        </p:txBody>
      </p:sp>
      <p:sp>
        <p:nvSpPr>
          <p:cNvPr id="8" name="text:6"/>
          <p:cNvSpPr txBox="1"/>
          <p:nvPr/>
        </p:nvSpPr>
        <p:spPr>
          <a:xfrm>
            <a:off x="6899466" y="2616753"/>
            <a:ext cx="2697613" cy="31119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86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В чем суть вашего решения</a:t>
            </a:r>
          </a:p>
        </p:txBody>
      </p:sp>
      <p:sp>
        <p:nvSpPr>
          <p:cNvPr id="9" name="text:7"/>
          <p:cNvSpPr txBox="1"/>
          <p:nvPr/>
        </p:nvSpPr>
        <p:spPr>
          <a:xfrm>
            <a:off x="11637023" y="6360960"/>
            <a:ext cx="162052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520977"/>
                </a:solidFill>
                <a:latin typeface="Montserra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1"/>
          <p:cNvSpPr txBox="1"/>
          <p:nvPr/>
        </p:nvSpPr>
        <p:spPr>
          <a:xfrm>
            <a:off x="439085" y="417699"/>
            <a:ext cx="3766981" cy="4346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/>
        </p:txBody>
      </p:sp>
      <p:sp>
        <p:nvSpPr>
          <p:cNvPr id="4" name="text:1"/>
          <p:cNvSpPr txBox="1"/>
          <p:nvPr/>
        </p:nvSpPr>
        <p:spPr>
          <a:xfrm>
            <a:off x="2915120" y="4239387"/>
            <a:ext cx="1704847" cy="923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Роль в команде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Ник в мессенджере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Номер телефона</a:t>
            </a:r>
          </a:p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Место </a:t>
            </a:r>
          </a:p>
          <a:p>
            <a:pPr marL="144780" indent="0">
              <a:lnSpc>
                <a:spcPts val="1439"/>
              </a:lnSpc>
              <a:buNone/>
            </a:pPr>
            <a:r>
              <a:rPr sz="1200" b="0">
                <a:solidFill>
                  <a:srgbClr val="000000"/>
                </a:solidFill>
                <a:latin typeface="Montserrat"/>
              </a:rPr>
              <a:t>работы/учебы</a:t>
            </a:r>
          </a:p>
        </p:txBody>
      </p:sp>
      <p:sp>
        <p:nvSpPr>
          <p:cNvPr id="5" name="text:2"/>
          <p:cNvSpPr txBox="1"/>
          <p:nvPr/>
        </p:nvSpPr>
        <p:spPr>
          <a:xfrm>
            <a:off x="2915120" y="3589216"/>
            <a:ext cx="1554322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Имя Фамилия</a:t>
            </a:r>
          </a:p>
        </p:txBody>
      </p:sp>
      <p:sp>
        <p:nvSpPr>
          <p:cNvPr id="6" name="text:3"/>
          <p:cNvSpPr txBox="1"/>
          <p:nvPr/>
        </p:nvSpPr>
        <p:spPr>
          <a:xfrm>
            <a:off x="5220437" y="4239387"/>
            <a:ext cx="1704847" cy="923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Роль в команде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Ник в мессенджере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Номер телефона</a:t>
            </a:r>
          </a:p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Место </a:t>
            </a:r>
          </a:p>
          <a:p>
            <a:pPr marL="144780" indent="0">
              <a:lnSpc>
                <a:spcPts val="1439"/>
              </a:lnSpc>
              <a:buNone/>
            </a:pPr>
            <a:r>
              <a:rPr sz="1200" b="0">
                <a:solidFill>
                  <a:srgbClr val="000000"/>
                </a:solidFill>
                <a:latin typeface="Montserrat"/>
              </a:rPr>
              <a:t>работы/учебы</a:t>
            </a:r>
          </a:p>
        </p:txBody>
      </p:sp>
      <p:sp>
        <p:nvSpPr>
          <p:cNvPr id="7" name="text:4"/>
          <p:cNvSpPr txBox="1"/>
          <p:nvPr/>
        </p:nvSpPr>
        <p:spPr>
          <a:xfrm>
            <a:off x="5220437" y="3589216"/>
            <a:ext cx="1554323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Имя Фамилия</a:t>
            </a:r>
          </a:p>
        </p:txBody>
      </p:sp>
      <p:sp>
        <p:nvSpPr>
          <p:cNvPr id="8" name="text:5"/>
          <p:cNvSpPr txBox="1"/>
          <p:nvPr/>
        </p:nvSpPr>
        <p:spPr>
          <a:xfrm>
            <a:off x="7525753" y="4239387"/>
            <a:ext cx="1704848" cy="923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Роль в команде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Ник в мессенджере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Номер телефона</a:t>
            </a:r>
          </a:p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Место </a:t>
            </a:r>
          </a:p>
          <a:p>
            <a:pPr marL="144780" indent="0">
              <a:lnSpc>
                <a:spcPts val="1439"/>
              </a:lnSpc>
              <a:buNone/>
            </a:pPr>
            <a:r>
              <a:rPr sz="1200" b="0">
                <a:solidFill>
                  <a:srgbClr val="000000"/>
                </a:solidFill>
                <a:latin typeface="Montserrat"/>
              </a:rPr>
              <a:t>работы/учебы</a:t>
            </a:r>
          </a:p>
        </p:txBody>
      </p:sp>
      <p:sp>
        <p:nvSpPr>
          <p:cNvPr id="9" name="text:6"/>
          <p:cNvSpPr txBox="1"/>
          <p:nvPr/>
        </p:nvSpPr>
        <p:spPr>
          <a:xfrm>
            <a:off x="7525753" y="3589216"/>
            <a:ext cx="1554322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Имя Фамилия</a:t>
            </a:r>
          </a:p>
        </p:txBody>
      </p:sp>
      <p:sp>
        <p:nvSpPr>
          <p:cNvPr id="10" name="text:7"/>
          <p:cNvSpPr txBox="1"/>
          <p:nvPr/>
        </p:nvSpPr>
        <p:spPr>
          <a:xfrm>
            <a:off x="9831070" y="4239387"/>
            <a:ext cx="1704848" cy="923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Роль в команде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Ник в мессенджере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Номер телефона</a:t>
            </a:r>
          </a:p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Место </a:t>
            </a:r>
          </a:p>
          <a:p>
            <a:pPr marL="144780" indent="0">
              <a:lnSpc>
                <a:spcPts val="1439"/>
              </a:lnSpc>
              <a:buNone/>
            </a:pPr>
            <a:r>
              <a:rPr sz="1200" b="0">
                <a:solidFill>
                  <a:srgbClr val="000000"/>
                </a:solidFill>
                <a:latin typeface="Montserrat"/>
              </a:rPr>
              <a:t>работы/учебы</a:t>
            </a:r>
          </a:p>
        </p:txBody>
      </p:sp>
      <p:sp>
        <p:nvSpPr>
          <p:cNvPr id="11" name="text:8"/>
          <p:cNvSpPr txBox="1"/>
          <p:nvPr/>
        </p:nvSpPr>
        <p:spPr>
          <a:xfrm>
            <a:off x="9831070" y="3589216"/>
            <a:ext cx="1554322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Имя Фамилия</a:t>
            </a:r>
          </a:p>
        </p:txBody>
      </p:sp>
      <p:sp>
        <p:nvSpPr>
          <p:cNvPr id="12" name="text:9"/>
          <p:cNvSpPr txBox="1"/>
          <p:nvPr/>
        </p:nvSpPr>
        <p:spPr>
          <a:xfrm>
            <a:off x="11637023" y="6385725"/>
            <a:ext cx="162052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FFFFFF"/>
                </a:solidFill>
                <a:latin typeface="Montserrat"/>
              </a:rPr>
              <a:t>9</a:t>
            </a:r>
          </a:p>
        </p:txBody>
      </p:sp>
      <p:sp>
        <p:nvSpPr>
          <p:cNvPr id="13" name="text:10"/>
          <p:cNvSpPr txBox="1"/>
          <p:nvPr/>
        </p:nvSpPr>
        <p:spPr>
          <a:xfrm>
            <a:off x="609803" y="4239387"/>
            <a:ext cx="1704848" cy="92364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Роль в команде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Ник в мессенджере</a:t>
            </a:r>
          </a:p>
          <a:p>
            <a:pPr marL="144780" indent="-144780">
              <a:lnSpc>
                <a:spcPts val="1295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Номер телефона</a:t>
            </a:r>
          </a:p>
          <a:p>
            <a:pPr marL="144780" indent="-144780">
              <a:lnSpc>
                <a:spcPts val="1294"/>
              </a:lnSpc>
              <a:buClr>
                <a:srgbClr val="FF0053"/>
              </a:buClr>
              <a:buChar char="•"/>
            </a:pPr>
            <a:r>
              <a:rPr sz="1200" b="0">
                <a:solidFill>
                  <a:srgbClr val="000000"/>
                </a:solidFill>
                <a:latin typeface="Montserrat"/>
              </a:rPr>
              <a:t>Место </a:t>
            </a:r>
          </a:p>
          <a:p>
            <a:pPr marL="144780" indent="0">
              <a:lnSpc>
                <a:spcPts val="1439"/>
              </a:lnSpc>
              <a:buNone/>
            </a:pPr>
            <a:r>
              <a:rPr sz="1200" b="0">
                <a:solidFill>
                  <a:srgbClr val="000000"/>
                </a:solidFill>
                <a:latin typeface="Montserrat"/>
              </a:rPr>
              <a:t>работы/учебы</a:t>
            </a:r>
          </a:p>
        </p:txBody>
      </p:sp>
      <p:sp>
        <p:nvSpPr>
          <p:cNvPr id="14" name="text:11"/>
          <p:cNvSpPr txBox="1"/>
          <p:nvPr/>
        </p:nvSpPr>
        <p:spPr>
          <a:xfrm>
            <a:off x="609803" y="3589216"/>
            <a:ext cx="1554322" cy="357325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913"/>
              </a:lnSpc>
              <a:buNone/>
            </a:pPr>
            <a:r>
              <a:rPr sz="1600" b="1">
                <a:solidFill>
                  <a:srgbClr val="520977"/>
                </a:solidFill>
                <a:latin typeface="Montserrat"/>
              </a:rPr>
              <a:t>Имя Фамилия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1"/>
          <p:cNvSpPr txBox="1"/>
          <p:nvPr/>
        </p:nvSpPr>
        <p:spPr>
          <a:xfrm>
            <a:off x="439085" y="417699"/>
            <a:ext cx="3766981" cy="4346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/>
        </p:txBody>
      </p:sp>
      <p:sp>
        <p:nvSpPr>
          <p:cNvPr id="4" name="text:1"/>
          <p:cNvSpPr txBox="1"/>
          <p:nvPr/>
        </p:nvSpPr>
        <p:spPr>
          <a:xfrm>
            <a:off x="11581778" y="6385725"/>
            <a:ext cx="273177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520977"/>
                </a:solidFill>
                <a:latin typeface="Montserrat"/>
              </a:rPr>
              <a:t>10</a:t>
            </a:r>
          </a:p>
        </p:txBody>
      </p:sp>
      <p:sp>
        <p:nvSpPr>
          <p:cNvPr id="5" name="text:2"/>
          <p:cNvSpPr txBox="1"/>
          <p:nvPr/>
        </p:nvSpPr>
        <p:spPr>
          <a:xfrm>
            <a:off x="625043" y="1599115"/>
            <a:ext cx="4297121" cy="73791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79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Расскажите, как вы собрались, участвовали </a:t>
            </a:r>
          </a:p>
          <a:p>
            <a:pPr>
              <a:lnSpc>
                <a:spcPts val="1680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ли вместе в прошлых хакатонах или </a:t>
            </a:r>
          </a:p>
          <a:p>
            <a:pPr>
              <a:lnSpc>
                <a:spcPts val="1686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проектах, интересные факты о команде.</a:t>
            </a:r>
          </a:p>
        </p:txBody>
      </p:sp>
      <p:sp>
        <p:nvSpPr>
          <p:cNvPr id="6" name="text:3"/>
          <p:cNvSpPr txBox="1"/>
          <p:nvPr/>
        </p:nvSpPr>
        <p:spPr>
          <a:xfrm>
            <a:off x="625043" y="1272915"/>
            <a:ext cx="2700588" cy="31475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86"/>
              </a:lnSpc>
              <a:buNone/>
            </a:pPr>
            <a:r>
              <a:rPr sz="1400" b="1">
                <a:solidFill>
                  <a:srgbClr val="520977"/>
                </a:solidFill>
                <a:latin typeface="Montserrat"/>
              </a:rPr>
              <a:t>Краткая история команды:</a:t>
            </a:r>
          </a:p>
        </p:txBody>
      </p:sp>
      <p:sp>
        <p:nvSpPr>
          <p:cNvPr id="7" name="text:4"/>
          <p:cNvSpPr txBox="1"/>
          <p:nvPr/>
        </p:nvSpPr>
        <p:spPr>
          <a:xfrm>
            <a:off x="625043" y="5136103"/>
            <a:ext cx="6636461" cy="52455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79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Расскажите о самых интересных или сложных моментах в процессе </a:t>
            </a:r>
          </a:p>
          <a:p>
            <a:pPr>
              <a:lnSpc>
                <a:spcPts val="1686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разработки и как команда с ними справилась.</a:t>
            </a:r>
          </a:p>
        </p:txBody>
      </p:sp>
      <p:sp>
        <p:nvSpPr>
          <p:cNvPr id="8" name="text:5"/>
          <p:cNvSpPr txBox="1"/>
          <p:nvPr/>
        </p:nvSpPr>
        <p:spPr>
          <a:xfrm>
            <a:off x="625043" y="5642833"/>
            <a:ext cx="6235140" cy="52455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79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Здесь можете поделиться, в том числе, и личными историями, </a:t>
            </a:r>
          </a:p>
          <a:p>
            <a:pPr>
              <a:lnSpc>
                <a:spcPts val="1686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которые повлияли на ход вашего участия в хакатоне.</a:t>
            </a:r>
          </a:p>
        </p:txBody>
      </p:sp>
      <p:sp>
        <p:nvSpPr>
          <p:cNvPr id="9" name="text:6"/>
          <p:cNvSpPr txBox="1"/>
          <p:nvPr/>
        </p:nvSpPr>
        <p:spPr>
          <a:xfrm>
            <a:off x="625043" y="4582523"/>
            <a:ext cx="4733366" cy="549074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845"/>
              </a:lnSpc>
              <a:buNone/>
            </a:pPr>
            <a:r>
              <a:rPr sz="1400" b="1">
                <a:solidFill>
                  <a:srgbClr val="520977"/>
                </a:solidFill>
                <a:latin typeface="Montserrat"/>
              </a:rPr>
              <a:t>С какими основными сложностями или вызовами </a:t>
            </a:r>
          </a:p>
          <a:p>
            <a:pPr>
              <a:lnSpc>
                <a:spcPts val="1686"/>
              </a:lnSpc>
              <a:buNone/>
            </a:pPr>
            <a:r>
              <a:rPr sz="1400" b="1">
                <a:solidFill>
                  <a:srgbClr val="520977"/>
                </a:solidFill>
                <a:latin typeface="Montserrat"/>
              </a:rPr>
              <a:t>вы столкнулись и как их преодолели?</a:t>
            </a:r>
          </a:p>
        </p:txBody>
      </p:sp>
      <p:sp>
        <p:nvSpPr>
          <p:cNvPr id="10" name="text:7"/>
          <p:cNvSpPr txBox="1"/>
          <p:nvPr/>
        </p:nvSpPr>
        <p:spPr>
          <a:xfrm>
            <a:off x="625043" y="3425844"/>
            <a:ext cx="4626050" cy="524551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80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Что вас вдохновило или заинтересовало в этой </a:t>
            </a:r>
          </a:p>
          <a:p>
            <a:pPr>
              <a:lnSpc>
                <a:spcPts val="1686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проблеме?</a:t>
            </a:r>
          </a:p>
        </p:txBody>
      </p:sp>
      <p:sp>
        <p:nvSpPr>
          <p:cNvPr id="11" name="text:8"/>
          <p:cNvSpPr txBox="1"/>
          <p:nvPr/>
        </p:nvSpPr>
        <p:spPr>
          <a:xfrm>
            <a:off x="625043" y="2893372"/>
            <a:ext cx="3749751" cy="52811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79"/>
              </a:lnSpc>
              <a:buNone/>
            </a:pPr>
            <a:r>
              <a:rPr sz="1400" b="1">
                <a:solidFill>
                  <a:srgbClr val="520977"/>
                </a:solidFill>
                <a:latin typeface="Montserrat"/>
              </a:rPr>
              <a:t>Почему вы выбрали именно эту задачу </a:t>
            </a:r>
          </a:p>
          <a:p>
            <a:pPr>
              <a:lnSpc>
                <a:spcPts val="1686"/>
              </a:lnSpc>
              <a:buNone/>
            </a:pPr>
            <a:r>
              <a:rPr sz="1400" b="1">
                <a:solidFill>
                  <a:srgbClr val="520977"/>
                </a:solidFill>
                <a:latin typeface="Montserrat"/>
              </a:rPr>
              <a:t>из предложенных на хакатоне?</a:t>
            </a:r>
          </a:p>
        </p:txBody>
      </p:sp>
      <p:sp>
        <p:nvSpPr>
          <p:cNvPr id="12" name="text:9"/>
          <p:cNvSpPr txBox="1"/>
          <p:nvPr/>
        </p:nvSpPr>
        <p:spPr>
          <a:xfrm>
            <a:off x="11621580" y="1255135"/>
            <a:ext cx="310241" cy="31475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86"/>
              </a:lnSpc>
              <a:buNone/>
            </a:pPr>
            <a:r>
              <a:rPr sz="1400" b="1">
                <a:solidFill>
                  <a:srgbClr val="520977"/>
                </a:solidFill>
                <a:latin typeface="Montserrat"/>
              </a:rPr>
              <a:t>01</a:t>
            </a:r>
          </a:p>
        </p:txBody>
      </p:sp>
      <p:sp>
        <p:nvSpPr>
          <p:cNvPr id="13" name="text:10"/>
          <p:cNvSpPr txBox="1"/>
          <p:nvPr/>
        </p:nvSpPr>
        <p:spPr>
          <a:xfrm>
            <a:off x="11595544" y="2893372"/>
            <a:ext cx="310241" cy="31475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86"/>
              </a:lnSpc>
              <a:buNone/>
            </a:pPr>
            <a:r>
              <a:rPr sz="1400" b="1">
                <a:solidFill>
                  <a:srgbClr val="520977"/>
                </a:solidFill>
                <a:latin typeface="Montserrat"/>
              </a:rPr>
              <a:t>02</a:t>
            </a:r>
          </a:p>
        </p:txBody>
      </p:sp>
      <p:sp>
        <p:nvSpPr>
          <p:cNvPr id="14" name="text:11"/>
          <p:cNvSpPr txBox="1"/>
          <p:nvPr/>
        </p:nvSpPr>
        <p:spPr>
          <a:xfrm>
            <a:off x="11595544" y="4564743"/>
            <a:ext cx="310241" cy="314759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686"/>
              </a:lnSpc>
              <a:buNone/>
            </a:pPr>
            <a:r>
              <a:rPr sz="1400" b="1">
                <a:solidFill>
                  <a:srgbClr val="520977"/>
                </a:solidFill>
                <a:latin typeface="Montserrat"/>
              </a:rPr>
              <a:t>03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1"/>
          <p:cNvSpPr txBox="1"/>
          <p:nvPr/>
        </p:nvSpPr>
        <p:spPr>
          <a:xfrm>
            <a:off x="439085" y="417699"/>
            <a:ext cx="3564759" cy="4346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/>
        </p:txBody>
      </p:sp>
      <p:sp>
        <p:nvSpPr>
          <p:cNvPr id="4" name="text:1"/>
          <p:cNvSpPr txBox="1"/>
          <p:nvPr/>
        </p:nvSpPr>
        <p:spPr>
          <a:xfrm>
            <a:off x="11581778" y="6385725"/>
            <a:ext cx="273177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FFFFFF"/>
                </a:solidFill>
                <a:latin typeface="Montserrat"/>
              </a:rPr>
              <a:t>11</a:t>
            </a:r>
          </a:p>
        </p:txBody>
      </p:sp>
      <p:sp>
        <p:nvSpPr>
          <p:cNvPr id="5" name="text:2"/>
          <p:cNvSpPr txBox="1"/>
          <p:nvPr/>
        </p:nvSpPr>
        <p:spPr>
          <a:xfrm>
            <a:off x="680936" y="1899991"/>
            <a:ext cx="4466032" cy="50296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144780" indent="-144780">
              <a:lnSpc>
                <a:spcPts val="1509"/>
              </a:lnSpc>
              <a:buClr>
                <a:srgbClr val="000000"/>
              </a:buClr>
              <a:buChar char="•"/>
            </a:pPr>
            <a:r>
              <a:rPr sz="1400" b="0">
                <a:solidFill>
                  <a:srgbClr val="000000"/>
                </a:solidFill>
                <a:latin typeface="Montserrat"/>
              </a:rPr>
              <a:t>Опишите в чем техническая составляющая </a:t>
            </a:r>
          </a:p>
          <a:p>
            <a:pPr marL="144780" indent="0">
              <a:lnSpc>
                <a:spcPts val="1686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вашего решения. </a:t>
            </a:r>
          </a:p>
        </p:txBody>
      </p:sp>
      <p:sp>
        <p:nvSpPr>
          <p:cNvPr id="6" name="text:3"/>
          <p:cNvSpPr txBox="1"/>
          <p:nvPr/>
        </p:nvSpPr>
        <p:spPr>
          <a:xfrm>
            <a:off x="6604953" y="1899991"/>
            <a:ext cx="3940248" cy="694730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 marL="144780" indent="-144780">
              <a:lnSpc>
                <a:spcPts val="1509"/>
              </a:lnSpc>
              <a:buClr>
                <a:srgbClr val="000000"/>
              </a:buClr>
              <a:buChar char="•"/>
            </a:pPr>
            <a:r>
              <a:rPr sz="1400" b="0">
                <a:solidFill>
                  <a:srgbClr val="000000"/>
                </a:solidFill>
                <a:latin typeface="Montserrat"/>
              </a:rPr>
              <a:t>Опишите ваши идеи по дальнейшему </a:t>
            </a:r>
          </a:p>
          <a:p>
            <a:pPr marL="144780" indent="0">
              <a:lnSpc>
                <a:spcPts val="1510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применению, развитию или внедрению </a:t>
            </a:r>
          </a:p>
          <a:p>
            <a:pPr marL="144780" indent="0">
              <a:lnSpc>
                <a:spcPts val="1686"/>
              </a:lnSpc>
              <a:buNone/>
            </a:pPr>
            <a:r>
              <a:rPr sz="1400" b="0">
                <a:solidFill>
                  <a:srgbClr val="000000"/>
                </a:solidFill>
                <a:latin typeface="Montserrat"/>
              </a:rPr>
              <a:t>проекта.</a:t>
            </a:r>
          </a:p>
        </p:txBody>
      </p:sp>
      <p:sp>
        <p:nvSpPr>
          <p:cNvPr id="7" name="text:4"/>
          <p:cNvSpPr txBox="1"/>
          <p:nvPr/>
        </p:nvSpPr>
        <p:spPr>
          <a:xfrm>
            <a:off x="617258" y="318510"/>
            <a:ext cx="3551887" cy="4491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06"/>
              </a:lnSpc>
              <a:buNone/>
            </a:pPr>
            <a:r>
              <a:rPr sz="2000" b="1">
                <a:solidFill>
                  <a:srgbClr val="F2F2F2"/>
                </a:solidFill>
                <a:latin typeface="Montserrat"/>
              </a:rPr>
              <a:t>КОРОТКО О РЕШЕНИИ</a:t>
            </a:r>
          </a:p>
        </p:txBody>
      </p:sp>
      <p:sp>
        <p:nvSpPr>
          <p:cNvPr id="8" name="text:5"/>
          <p:cNvSpPr txBox="1"/>
          <p:nvPr/>
        </p:nvSpPr>
        <p:spPr>
          <a:xfrm>
            <a:off x="669506" y="1447451"/>
            <a:ext cx="10038264" cy="44917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2406"/>
              </a:lnSpc>
              <a:buNone/>
            </a:pPr>
            <a:r>
              <a:rPr sz="2000" b="1">
                <a:solidFill>
                  <a:srgbClr val="520977"/>
                </a:solidFill>
                <a:latin typeface="Montserrat"/>
              </a:rPr>
              <a:t>Техническая суть решения</a:t>
            </a:r>
            <a:r>
              <a:rPr sz="2000" b="1">
                <a:solidFill>
                  <a:srgbClr val="520977"/>
                </a:solidFill>
                <a:latin typeface="Montserrat"/>
              </a:rPr>
              <a:t> Маркетинговая суть решения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background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gion:1"/>
          <p:cNvSpPr txBox="1"/>
          <p:nvPr/>
        </p:nvSpPr>
        <p:spPr>
          <a:xfrm>
            <a:off x="439085" y="417699"/>
            <a:ext cx="2925733" cy="434641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2000" b="1">
                <a:solidFill>
                  <a:srgbClr val="FFFFFF"/>
                </a:solidFill>
                <a:latin typeface="Montserrat"/>
              </a:rPr>
              <a:t>АКТИВНОСТЬ</a:t>
            </a:r>
          </a:p>
        </p:txBody>
      </p:sp>
      <p:sp>
        <p:nvSpPr>
          <p:cNvPr id="4" name="region:2"/>
          <p:cNvSpPr txBox="1"/>
          <p:nvPr/>
        </p:nvSpPr>
        <p:spPr>
          <a:xfrm>
            <a:off x="6069970" y="1485168"/>
            <a:ext cx="5668317" cy="55416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0">
                <a:solidFill>
                  <a:srgbClr val="000000"/>
                </a:solidFill>
                <a:latin typeface="Montserrat"/>
              </a:rPr>
              <a:t>.gitkeep — 12</a:t>
            </a:r>
          </a:p>
        </p:txBody>
      </p:sp>
      <p:sp>
        <p:nvSpPr>
          <p:cNvPr id="5" name="region:3"/>
          <p:cNvSpPr txBox="1"/>
          <p:nvPr/>
        </p:nvSpPr>
        <p:spPr>
          <a:xfrm>
            <a:off x="6069970" y="2495847"/>
            <a:ext cx="5668317" cy="55416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0">
                <a:solidFill>
                  <a:srgbClr val="000000"/>
                </a:solidFill>
                <a:latin typeface="Montserrat"/>
              </a:rPr>
              <a:t>README.md — 8</a:t>
            </a:r>
          </a:p>
        </p:txBody>
      </p:sp>
      <p:sp>
        <p:nvSpPr>
          <p:cNvPr id="6" name="region:4"/>
          <p:cNvSpPr txBox="1"/>
          <p:nvPr/>
        </p:nvSpPr>
        <p:spPr>
          <a:xfrm>
            <a:off x="6069970" y="3506513"/>
            <a:ext cx="5668317" cy="554167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0">
                <a:solidFill>
                  <a:srgbClr val="000000"/>
                </a:solidFill>
                <a:latin typeface="Montserrat"/>
              </a:rPr>
              <a:t>.github/workflows/ci.yml — 6</a:t>
            </a:r>
          </a:p>
        </p:txBody>
      </p:sp>
      <p:sp>
        <p:nvSpPr>
          <p:cNvPr id="7" name="region:5"/>
          <p:cNvSpPr txBox="1"/>
          <p:nvPr/>
        </p:nvSpPr>
        <p:spPr>
          <a:xfrm>
            <a:off x="6070092" y="4517136"/>
            <a:ext cx="5668073" cy="554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0">
                <a:solidFill>
                  <a:srgbClr val="000000"/>
                </a:solidFill>
                <a:latin typeface="Montserrat"/>
              </a:rPr>
              <a:t>.gitignore — 4</a:t>
            </a:r>
          </a:p>
        </p:txBody>
      </p:sp>
      <p:sp>
        <p:nvSpPr>
          <p:cNvPr id="8" name="region:6"/>
          <p:cNvSpPr txBox="1"/>
          <p:nvPr/>
        </p:nvSpPr>
        <p:spPr>
          <a:xfrm>
            <a:off x="6070092" y="5527548"/>
            <a:ext cx="5668073" cy="554736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1400" b="0">
                <a:solidFill>
                  <a:srgbClr val="000000"/>
                </a:solidFill>
                <a:latin typeface="Montserrat"/>
              </a:rPr>
              <a:t>back-end/pyproject.toml — 4</a:t>
            </a:r>
          </a:p>
        </p:txBody>
      </p:sp>
      <p:sp>
        <p:nvSpPr>
          <p:cNvPr id="9" name="region:7"/>
          <p:cNvSpPr txBox="1"/>
          <p:nvPr/>
        </p:nvSpPr>
        <p:spPr>
          <a:xfrm>
            <a:off x="523748" y="1544218"/>
            <a:ext cx="5034788" cy="4479138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>
              <a:buNone/>
            </a:pPr>
            <a:r>
              <a:rPr lang="ru-RU" sz="3600" b="1">
                <a:solidFill>
                  <a:srgbClr val="FF0053"/>
                </a:solidFill>
                <a:latin typeface="Montserrat"/>
              </a:rPr>
              <a:t>50</a:t>
            </a:r>
          </a:p>
          <a:p>
            <a:pPr>
              <a:buNone/>
            </a:pPr>
            <a:r>
              <a:rPr lang="ru-RU" sz="1600" b="0">
                <a:solidFill>
                  <a:srgbClr val="000000"/>
                </a:solidFill>
                <a:latin typeface="Montserrat"/>
              </a:rPr>
              <a:t>коммитов в истории HEAD</a:t>
            </a:r>
          </a:p>
          <a:p>
            <a:pPr>
              <a:buNone/>
            </a:pPr>
            <a:r>
              <a:rPr lang="ru-RU" sz="3600" b="1">
                <a:solidFill>
                  <a:srgbClr val="FF0053"/>
                </a:solidFill>
                <a:latin typeface="Montserrat"/>
              </a:rPr>
              <a:t>11</a:t>
            </a:r>
          </a:p>
          <a:p>
            <a:pPr>
              <a:buNone/>
            </a:pPr>
            <a:r>
              <a:rPr lang="ru-RU" sz="1600" b="0">
                <a:solidFill>
                  <a:srgbClr val="000000"/>
                </a:solidFill>
                <a:latin typeface="Montserrat"/>
              </a:rPr>
              <a:t>веток: локальные и удалённые</a:t>
            </a:r>
          </a:p>
          <a:p>
            <a:pPr>
              <a:buNone/>
            </a:pPr>
            <a:r>
              <a:rPr lang="ru-RU" sz="3600" b="1">
                <a:solidFill>
                  <a:srgbClr val="FF0053"/>
                </a:solidFill>
                <a:latin typeface="Montserrat"/>
              </a:rPr>
              <a:t>11.10.2026</a:t>
            </a:r>
          </a:p>
          <a:p>
            <a:pPr>
              <a:buNone/>
            </a:pPr>
            <a:r>
              <a:rPr lang="ru-RU" sz="1600" b="0">
                <a:solidFill>
                  <a:srgbClr val="000000"/>
                </a:solidFill>
                <a:latin typeface="Montserrat"/>
              </a:rPr>
              <a:t>дата последнего коммита</a:t>
            </a:r>
          </a:p>
          <a:p>
            <a:pPr>
              <a:buNone/>
            </a:pPr>
            <a:r>
              <a:rPr lang="ru-RU" sz="1200" b="0">
                <a:solidFill>
                  <a:srgbClr val="520977"/>
                </a:solidFill>
                <a:latin typeface="Montserrat"/>
              </a:rPr>
              <a:t>Справа: топ-5 файлов по числу изменений</a:t>
            </a:r>
          </a:p>
        </p:txBody>
      </p:sp>
      <p:sp>
        <p:nvSpPr>
          <p:cNvPr id="10" name="text:1"/>
          <p:cNvSpPr txBox="1"/>
          <p:nvPr/>
        </p:nvSpPr>
        <p:spPr>
          <a:xfrm>
            <a:off x="11801475" y="6385712"/>
            <a:ext cx="273177" cy="265786"/>
          </a:xfrm>
          <a:prstGeom prst="rect">
            <a:avLst/>
          </a:prstGeom>
          <a:noFill/>
        </p:spPr>
        <p:txBody>
          <a:bodyPr wrap="none" lIns="0" rIns="0" tIns="0" bIns="0">
            <a:noAutofit/>
          </a:bodyPr>
          <a:lstStyle/>
          <a:p>
            <a:pPr>
              <a:lnSpc>
                <a:spcPts val="1439"/>
              </a:lnSpc>
              <a:buNone/>
            </a:pPr>
            <a:r>
              <a:rPr sz="1200" b="0">
                <a:solidFill>
                  <a:srgbClr val="520977"/>
                </a:solidFill>
                <a:latin typeface="Montserrat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